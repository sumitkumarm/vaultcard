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d2f364c83a422c" /><Relationship Type="http://schemas.openxmlformats.org/officeDocument/2006/relationships/extended-properties" Target="/docProps/app.xml" Id="R5994e19335384245" /><Relationship Type="http://schemas.openxmlformats.org/officeDocument/2006/relationships/officeDocument" Target="/ppt/presentation.xml" Id="Rfab8ab1ebd8d46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b862d03cfd4c64"/>
  </p:sldMasterIdLst>
  <p:notesMasterIdLst>
    <p:notesMasterId xmlns:r="http://schemas.openxmlformats.org/officeDocument/2006/relationships" r:id="R66fc51dc990a4807"/>
  </p:notesMasterIdLst>
  <p:sldIdLst>
    <p:sldId xmlns:r="http://schemas.openxmlformats.org/officeDocument/2006/relationships" id="256" r:id="R430d0ddbec294932"/>
    <p:sldId xmlns:r="http://schemas.openxmlformats.org/officeDocument/2006/relationships" id="257" r:id="Rf3c383679365457d"/>
    <p:sldId xmlns:r="http://schemas.openxmlformats.org/officeDocument/2006/relationships" id="258" r:id="Rfa1a19bbfdd54bab"/>
    <p:sldId xmlns:r="http://schemas.openxmlformats.org/officeDocument/2006/relationships" id="259" r:id="R19f4e7c1b84a4c3b"/>
    <p:sldId xmlns:r="http://schemas.openxmlformats.org/officeDocument/2006/relationships" id="260" r:id="R1e54e9a809ea4777"/>
    <p:sldId xmlns:r="http://schemas.openxmlformats.org/officeDocument/2006/relationships" id="261" r:id="R202a9c5a121c4240"/>
    <p:sldId xmlns:r="http://schemas.openxmlformats.org/officeDocument/2006/relationships" id="262" r:id="R56c4a4baa8ff4c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b5aaaab1c74208" /><Relationship Type="http://schemas.openxmlformats.org/officeDocument/2006/relationships/slideMaster" Target="/ppt/slideMasters/slideMaster1.xml" Id="R34b862d03cfd4c64" /><Relationship Type="http://schemas.openxmlformats.org/officeDocument/2006/relationships/notesMaster" Target="/ppt/notesMasters/notesMaster1.xml" Id="R66fc51dc990a4807" /><Relationship Type="http://schemas.openxmlformats.org/officeDocument/2006/relationships/presProps" Target="/ppt/presProps.xml" Id="Rc6da8072ed0b4c26" /><Relationship Type="http://schemas.openxmlformats.org/officeDocument/2006/relationships/tableStyles" Target="/ppt/tableStyles.xml" Id="Rf5c35582e224451a" /><Relationship Type="http://schemas.openxmlformats.org/officeDocument/2006/relationships/slide" Target="/ppt/slides/slide1.xml" Id="R430d0ddbec294932" /><Relationship Type="http://schemas.openxmlformats.org/officeDocument/2006/relationships/slide" Target="/ppt/slides/slide2.xml" Id="Rf3c383679365457d" /><Relationship Type="http://schemas.openxmlformats.org/officeDocument/2006/relationships/slide" Target="/ppt/slides/slide3.xml" Id="Rfa1a19bbfdd54bab" /><Relationship Type="http://schemas.openxmlformats.org/officeDocument/2006/relationships/slide" Target="/ppt/slides/slide4.xml" Id="R19f4e7c1b84a4c3b" /><Relationship Type="http://schemas.openxmlformats.org/officeDocument/2006/relationships/slide" Target="/ppt/slides/slide5.xml" Id="R1e54e9a809ea4777" /><Relationship Type="http://schemas.openxmlformats.org/officeDocument/2006/relationships/slide" Target="/ppt/slides/slide6.xml" Id="R202a9c5a121c4240" /><Relationship Type="http://schemas.openxmlformats.org/officeDocument/2006/relationships/slide" Target="/ppt/slides/slide7.xml" Id="R56c4a4baa8ff4c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d4704087ae43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a8dbf9c7154904" /><Relationship Type="http://schemas.openxmlformats.org/officeDocument/2006/relationships/notesMaster" Target="/ppt/notesMasters/notesMaster1.xml" Id="Rfc5e3e8e7a1147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e479c719aa4d29" /><Relationship Type="http://schemas.openxmlformats.org/officeDocument/2006/relationships/notesMaster" Target="/ppt/notesMasters/notesMaster1.xml" Id="Rd214acfd10ab48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0af5f044ad47cd" /><Relationship Type="http://schemas.openxmlformats.org/officeDocument/2006/relationships/notesMaster" Target="/ppt/notesMasters/notesMaster1.xml" Id="R3a4c88f4cc5b43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078c6ddafa4506" /><Relationship Type="http://schemas.openxmlformats.org/officeDocument/2006/relationships/notesMaster" Target="/ppt/notesMasters/notesMaster1.xml" Id="Re71ead3657a247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b3aa76501e4dd9" /><Relationship Type="http://schemas.openxmlformats.org/officeDocument/2006/relationships/notesMaster" Target="/ppt/notesMasters/notesMaster1.xml" Id="R92a1f764601749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35ceb693014e4b" /><Relationship Type="http://schemas.openxmlformats.org/officeDocument/2006/relationships/notesMaster" Target="/ppt/notesMasters/notesMaster1.xml" Id="R865afd29aea94c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671877b9734a67" /><Relationship Type="http://schemas.openxmlformats.org/officeDocument/2006/relationships/notesMaster" Target="/ppt/notesMasters/notesMaster1.xml" Id="R247c966b0bac41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/Users/shaikali/Documents/vaultcard/.codex-tmp/vaultcard-ui-handoff/screens/07-card-list.png</a:t>
            </a:r>
          </a:p>
          <a:p xmlns:a="http://schemas.openxmlformats.org/drawingml/2006/main">
            <a:r>
              <a:t>- /Users/shaikali/Documents/vaultcard/ios-native/VaultCard/VaultCardApp.swift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/Users/shaikali/Documents/vaultcard/ios-native/VaultCard/VaultCardApp.swift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/Users/shaikali/Documents/vaultcard/.codex-tmp/vaultcard-ui-handoff/screens/01-onboarding-organize.png</a:t>
            </a:r>
          </a:p>
          <a:p xmlns:a="http://schemas.openxmlformats.org/drawingml/2006/main">
            <a:r>
              <a:t>- /Users/shaikali/Documents/vaultcard/.codex-tmp/vaultcard-ui-handoff/screens/02-onboarding-balance.png</a:t>
            </a:r>
          </a:p>
          <a:p xmlns:a="http://schemas.openxmlformats.org/drawingml/2006/main">
            <a:r>
              <a:t>- /Users/shaikali/Documents/vaultcard/.codex-tmp/vaultcard-ui-handoff/screens/03-onboarding-security.png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/Users/shaikali/Documents/vaultcard/.codex-tmp/vaultcard-ui-handoff/screens/04-add-choice.png</a:t>
            </a:r>
          </a:p>
          <a:p xmlns:a="http://schemas.openxmlformats.org/drawingml/2006/main">
            <a:r>
              <a:t>- /Users/shaikali/Documents/vaultcard/.codex-tmp/vaultcard-ui-handoff/screens/12-scan-card.png</a:t>
            </a:r>
          </a:p>
          <a:p xmlns:a="http://schemas.openxmlformats.org/drawingml/2006/main">
            <a:r>
              <a:t>- /Users/shaikali/Documents/vaultcard/.codex-tmp/vaultcard-ui-handoff/screens/05-manual-entry.png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/Users/shaikali/Documents/vaultcard/.codex-tmp/vaultcard-ui-handoff/screens/06-validation-error.png</a:t>
            </a:r>
          </a:p>
          <a:p xmlns:a="http://schemas.openxmlformats.org/drawingml/2006/main">
            <a:r>
              <a:t>- /Users/shaikali/Documents/vaultcard/.codex-tmp/vaultcard-ui-handoff/screens/07a-empty-vault.png</a:t>
            </a:r>
          </a:p>
          <a:p xmlns:a="http://schemas.openxmlformats.org/drawingml/2006/main">
            <a:r>
              <a:t>- /Users/shaikali/Documents/vaultcard/.codex-tmp/vaultcard-ui-handoff/screens/07-card-list.png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/Users/shaikali/Documents/vaultcard/.codex-tmp/vaultcard-ui-handoff/screens/08-card-detail.png</a:t>
            </a:r>
          </a:p>
          <a:p xmlns:a="http://schemas.openxmlformats.org/drawingml/2006/main">
            <a:r>
              <a:t>- /Users/shaikali/Documents/vaultcard/.codex-tmp/vaultcard-ui-handoff/screens/09-card-revealed.png</a:t>
            </a:r>
          </a:p>
          <a:p xmlns:a="http://schemas.openxmlformats.org/drawingml/2006/main">
            <a:r>
              <a:t>- /Users/shaikali/Documents/vaultcard/.codex-tmp/vaultcard-ui-handoff/screens/10-giftcardmall.png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/Users/shaikali/Documents/vaultcard/.codex-tmp/vaultcard-ui-handoff/screens/11-settings.png</a:t>
            </a:r>
          </a:p>
          <a:p xmlns:a="http://schemas.openxmlformats.org/drawingml/2006/main">
            <a:r>
              <a:t>- /Users/shaikali/Documents/vaultcard/ios-native/VaultCard/VaultCardApp.swift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932efb09d44a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a2a78160ea44e7" /><Relationship Type="http://schemas.openxmlformats.org/officeDocument/2006/relationships/slideLayout" Target="/ppt/slideLayouts/slideLayout1.xml" Id="R5f97eeda46c34c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97eeda46c34c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8027b4f6d487c" /><Relationship Type="http://schemas.openxmlformats.org/officeDocument/2006/relationships/image" Target="/ppt/media/image.png" Id="Rac7f6be5c7f1499d" /><Relationship Type="http://schemas.openxmlformats.org/officeDocument/2006/relationships/notesSlide" Target="/ppt/notesSlides/notesSlide1.xml" Id="Rb7e767d130ad42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23eecacbe4037" /><Relationship Type="http://schemas.openxmlformats.org/officeDocument/2006/relationships/notesSlide" Target="/ppt/notesSlides/notesSlide2.xml" Id="R14ddbc02abf64f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980108e26488d" /><Relationship Type="http://schemas.openxmlformats.org/officeDocument/2006/relationships/image" Target="/ppt/media/image2.png" Id="R42edee0f1aa04ce1" /><Relationship Type="http://schemas.openxmlformats.org/officeDocument/2006/relationships/image" Target="/ppt/media/image3.png" Id="R19eebd26803d4cfa" /><Relationship Type="http://schemas.openxmlformats.org/officeDocument/2006/relationships/image" Target="/ppt/media/image4.png" Id="R299c4c5f5da74dd8" /><Relationship Type="http://schemas.openxmlformats.org/officeDocument/2006/relationships/notesSlide" Target="/ppt/notesSlides/notesSlide3.xml" Id="Rb75c5b808ef947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d7e13dc584b1e" /><Relationship Type="http://schemas.openxmlformats.org/officeDocument/2006/relationships/image" Target="/ppt/media/image5.png" Id="R7a83233d00f0474a" /><Relationship Type="http://schemas.openxmlformats.org/officeDocument/2006/relationships/image" Target="/ppt/media/image6.png" Id="R1f65628ed26349f1" /><Relationship Type="http://schemas.openxmlformats.org/officeDocument/2006/relationships/image" Target="/ppt/media/image7.png" Id="Rda37a2d54beb41a0" /><Relationship Type="http://schemas.openxmlformats.org/officeDocument/2006/relationships/notesSlide" Target="/ppt/notesSlides/notesSlide4.xml" Id="R5c6c780ce7ca49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6633e0e9144dd" /><Relationship Type="http://schemas.openxmlformats.org/officeDocument/2006/relationships/image" Target="/ppt/media/image8.png" Id="R6be8bf4436614791" /><Relationship Type="http://schemas.openxmlformats.org/officeDocument/2006/relationships/image" Target="/ppt/media/image9.png" Id="Rf6c9c1f03d034a5c" /><Relationship Type="http://schemas.openxmlformats.org/officeDocument/2006/relationships/image" Target="/ppt/media/image10.png" Id="R00027fc68df54f84" /><Relationship Type="http://schemas.openxmlformats.org/officeDocument/2006/relationships/notesSlide" Target="/ppt/notesSlides/notesSlide5.xml" Id="Rc9e80936c23442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0cb5e85324eaa" /><Relationship Type="http://schemas.openxmlformats.org/officeDocument/2006/relationships/image" Target="/ppt/media/image11.png" Id="R56be684194ac4f74" /><Relationship Type="http://schemas.openxmlformats.org/officeDocument/2006/relationships/image" Target="/ppt/media/image12.png" Id="Rad73d12584ac4585" /><Relationship Type="http://schemas.openxmlformats.org/officeDocument/2006/relationships/image" Target="/ppt/media/image13.png" Id="R9e703e20dda643fd" /><Relationship Type="http://schemas.openxmlformats.org/officeDocument/2006/relationships/notesSlide" Target="/ppt/notesSlides/notesSlide6.xml" Id="Rf5838f70877244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c888bd5284c91" /><Relationship Type="http://schemas.openxmlformats.org/officeDocument/2006/relationships/image" Target="/ppt/media/image14.png" Id="R21a3275210a542e8" /><Relationship Type="http://schemas.openxmlformats.org/officeDocument/2006/relationships/notesSlide" Target="/ppt/notesSlides/notesSlide7.xml" Id="Rba4db23fc3e147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B77134-C04D-4D91-B273-205A50AA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8CFF"/>
                </a:solidFill>
                <a:latin typeface="Helvetica Neue"/>
                <a:ea typeface="Helvetica Neue"/>
                <a:cs typeface="Helvetica Neue"/>
              </a:rPr>
              <a:t>DESIGN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0F717-210C-41A8-88FD-FC078076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50958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VaultCard UI</a:t>
            </a:r>
          </a:p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inventory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0AD1A9-FF83-4140-87E8-B650FE8A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4857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rPr>
              <a:t>Current native iOS screens, interaction states, and functional coverage for redesign.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7A2A9-477A-43CE-9656-6D5B73D5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rPr>
              <a:t>iPhone 17 Pro Simulator · 13 captured states · August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7E73E-E0E9-49C4-BA49-166394C3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0050"/>
            <a:ext cx="4476750" cy="5695950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f6be5c7f1499d"/>
          <a:stretch xmlns:a="http://schemas.openxmlformats.org/drawingml/2006/main"/>
        </p:blipFill>
        <p:spPr>
          <a:xfrm xmlns:a="http://schemas.openxmlformats.org/drawingml/2006/main">
            <a:off x="7848600" y="710394"/>
            <a:ext cx="2343150" cy="509431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5CC8D-C176-457F-853B-BA9DE573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66B73"/>
                </a:solidFill>
                <a:latin typeface="Helvetica Neue"/>
                <a:ea typeface="Helvetica Neue"/>
                <a:cs typeface="Helvetica Neue"/>
              </a:rPr>
              <a:t>VAULTCARD · CURRENT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42ED0-20DE-4063-ABFC-E0F8F4A4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03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489575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8DF808-6497-440B-8AEA-C18EF5EC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implementation has four functional zones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28EFB-32A7-49A9-A873-5C7D9AB4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rPr>
              <a:t>Use this map as the redesign coverage checklist.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F83E7-4F12-49E3-83D4-56CAB720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D8C71-1CCC-4D0C-BF3F-DF755C11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66B73"/>
                </a:solidFill>
                <a:latin typeface="Helvetica Neue"/>
                <a:ea typeface="Helvetica Neue"/>
                <a:cs typeface="Helvetica Neue"/>
              </a:rPr>
              <a:t>VAULTCARD · CURRENT UI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16E64-DC03-4C47-8B14-D73FB5A8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03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B26457-7B6F-464D-8B34-34086F26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8C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BFAE6-A5F7-4998-B759-1E3F8537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3355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Onboarding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68B41-8700-4B50-817E-9DB60847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05050"/>
            <a:ext cx="4343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rPr>
              <a:t>Three trust-and-value messages lead into the vault.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A47B59-B4FD-408A-9BFD-CA20E84B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3852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58D31A-75AD-4C16-BC03-5DD13A5E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526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8C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F97A2-FB90-4DA9-ABC9-652E1856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33550"/>
            <a:ext cx="478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Vault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D1EE9A-94F0-4003-926D-58FF9941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05050"/>
            <a:ext cx="4686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rPr>
              <a:t>Empty and populated states organize saved cards.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0A92F0-F104-4832-9D77-EEDC05F4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38525"/>
            <a:ext cx="548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607EC-BA29-486A-A176-3BD47F57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29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8C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051469-DF87-472A-9BC2-1EFFD74E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000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Card management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E7DB44-1E12-412E-802D-D79AC4CB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0"/>
            <a:ext cx="4343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rPr>
              <a:t>Scan or type, validate, save, reveal, refresh, and delete.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56FD8E-2BA8-4A82-908B-F57847DE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149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D4069A-4505-48D3-8DF8-032F48FD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29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8C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E02AB9-0406-4D1A-8970-5C07CD21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10000"/>
            <a:ext cx="478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Preferences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1FC1C4-4D55-4B5A-A140-4BBA93CD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81500"/>
            <a:ext cx="4686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rPr>
              <a:t>App lock, analytics, and notification controls live in Settings.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6EB2B2-46F4-4D4F-97DE-F9194402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514975"/>
            <a:ext cx="548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892831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B41F07-0E0C-4676-8C5D-6B6D85F0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Onboarding repeats one visual formula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A2120-AFF9-4C72-9CED-424676D5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rPr>
              <a:t>Each page swaps the icon and message while keeping the same structure.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32903-8445-42C9-B22A-6AAB517F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DAACB8-7532-43DB-9332-E88ED8FB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66B73"/>
                </a:solidFill>
                <a:latin typeface="Helvetica Neue"/>
                <a:ea typeface="Helvetica Neue"/>
                <a:cs typeface="Helvetica Neue"/>
              </a:rPr>
              <a:t>VAULTCARD · CURRENT UI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F1413-9C37-4B23-8586-A8D7AD75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03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8A6970-637C-4661-BABD-F2F263EB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3" y="13525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 · Organize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dee0f1aa04ce1"/>
          <a:stretch xmlns:a="http://schemas.openxmlformats.org/drawingml/2006/main"/>
        </p:blipFill>
        <p:spPr>
          <a:xfrm xmlns:a="http://schemas.openxmlformats.org/drawingml/2006/main">
            <a:off x="1485900" y="1811195"/>
            <a:ext cx="1952625" cy="424525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16C4C-5019-45F6-A935-566D0E26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738" y="13525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 · Check balances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ebd26803d4cfa"/>
          <a:stretch xmlns:a="http://schemas.openxmlformats.org/drawingml/2006/main"/>
        </p:blipFill>
        <p:spPr>
          <a:xfrm xmlns:a="http://schemas.openxmlformats.org/drawingml/2006/main">
            <a:off x="5114925" y="1811195"/>
            <a:ext cx="1952625" cy="4245259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787844-7E7C-47EB-AC7E-12941AE2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763" y="13525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 · Protect details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c4c5f5da74dd8"/>
          <a:stretch xmlns:a="http://schemas.openxmlformats.org/drawingml/2006/main"/>
        </p:blipFill>
        <p:spPr>
          <a:xfrm xmlns:a="http://schemas.openxmlformats.org/drawingml/2006/main">
            <a:off x="8743950" y="1811195"/>
            <a:ext cx="1952625" cy="424525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8665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16FE5-FDFE-46C2-80F2-FE01BDBA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Card entry branches, then converges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498BD-545C-45C1-9337-6B9C23A3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rPr>
              <a:t>The scanner falls back to text; both routes converge on the same review form.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915E0-1909-424C-A3DC-BD5D6CBB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A4461-4AD9-4367-82EA-76C9946E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66B73"/>
                </a:solidFill>
                <a:latin typeface="Helvetica Neue"/>
                <a:ea typeface="Helvetica Neue"/>
                <a:cs typeface="Helvetica Neue"/>
              </a:rPr>
              <a:t>VAULTCARD · CURRENT UI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2BAED-A63B-4406-813F-DAC9527F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03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19E1A8-71D4-401F-A02C-B9123AF9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3" y="13525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Choose method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3233d00f0474a"/>
          <a:stretch xmlns:a="http://schemas.openxmlformats.org/drawingml/2006/main"/>
        </p:blipFill>
        <p:spPr>
          <a:xfrm xmlns:a="http://schemas.openxmlformats.org/drawingml/2006/main">
            <a:off x="1485900" y="1811195"/>
            <a:ext cx="1952625" cy="424525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D2334-CE39-4BFB-9897-F979C569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738" y="13525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Scan or fallback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65628ed26349f1"/>
          <a:stretch xmlns:a="http://schemas.openxmlformats.org/drawingml/2006/main"/>
        </p:blipFill>
        <p:spPr>
          <a:xfrm xmlns:a="http://schemas.openxmlformats.org/drawingml/2006/main">
            <a:off x="5114925" y="1811195"/>
            <a:ext cx="1952625" cy="4245259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68D017-F2B8-4E0E-B8EE-2320327D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763" y="13525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Review and save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7a2d54beb41a0"/>
          <a:stretch xmlns:a="http://schemas.openxmlformats.org/drawingml/2006/main"/>
        </p:blipFill>
        <p:spPr>
          <a:xfrm xmlns:a="http://schemas.openxmlformats.org/drawingml/2006/main">
            <a:off x="8743950" y="1811195"/>
            <a:ext cx="1952625" cy="424525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388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3F7D81-29AA-48BF-A3A1-72550AC3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Validation feeds directly into two vault states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A4A9A-A78F-4D45-99CA-DD0FB449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rPr>
              <a:t>The current experience uses inline errors, a single empty-state card, and a compact saved-card row.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07C66-F67A-4485-9183-19978CBA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3C851-61A9-4024-9DA3-D6DF0EDF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66B73"/>
                </a:solidFill>
                <a:latin typeface="Helvetica Neue"/>
                <a:ea typeface="Helvetica Neue"/>
                <a:cs typeface="Helvetica Neue"/>
              </a:rPr>
              <a:t>VAULTCARD · CURRENT UI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3D1B3-1A62-48B0-A478-9A82901D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03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F6E96-E2D8-4731-A879-83A6E412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3" y="13525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Validation error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8bf4436614791"/>
          <a:stretch xmlns:a="http://schemas.openxmlformats.org/drawingml/2006/main"/>
        </p:blipFill>
        <p:spPr>
          <a:xfrm xmlns:a="http://schemas.openxmlformats.org/drawingml/2006/main">
            <a:off x="1485900" y="1811195"/>
            <a:ext cx="1952625" cy="424525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604518-FE2D-4C08-A356-D37EFB16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738" y="13525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Empty vault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9c1f03d034a5c"/>
          <a:stretch xmlns:a="http://schemas.openxmlformats.org/drawingml/2006/main"/>
        </p:blipFill>
        <p:spPr>
          <a:xfrm xmlns:a="http://schemas.openxmlformats.org/drawingml/2006/main">
            <a:off x="5114925" y="1811195"/>
            <a:ext cx="1952625" cy="4245259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34D4C4-68C3-4459-AFB9-B98E6B8C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763" y="13525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Populated vault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27fc68df54f84"/>
          <a:stretch xmlns:a="http://schemas.openxmlformats.org/drawingml/2006/main"/>
        </p:blipFill>
        <p:spPr>
          <a:xfrm xmlns:a="http://schemas.openxmlformats.org/drawingml/2006/main">
            <a:off x="8743950" y="1811195"/>
            <a:ext cx="1952625" cy="424525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4383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12E11-C725-4AC4-9AAE-F0686467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Secure details lead into external refresh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A0D43-0C74-4F08-9B79-C77AA5BB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rPr>
              <a:t>Revealing credentials changes one row; balance refresh opens embedded GiftCardMall content.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55330-C1D3-41F0-A310-FD0F8554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297F1-2A93-4D3F-BC70-B6250A6D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66B73"/>
                </a:solidFill>
                <a:latin typeface="Helvetica Neue"/>
                <a:ea typeface="Helvetica Neue"/>
                <a:cs typeface="Helvetica Neue"/>
              </a:rPr>
              <a:t>VAULTCARD · CURRENT UI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E8A86-EC81-44A3-AC03-5D50514D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03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D4510-B6C0-4279-97F8-38E47C6F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3" y="13525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Masked details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be684194ac4f74"/>
          <a:stretch xmlns:a="http://schemas.openxmlformats.org/drawingml/2006/main"/>
        </p:blipFill>
        <p:spPr>
          <a:xfrm xmlns:a="http://schemas.openxmlformats.org/drawingml/2006/main">
            <a:off x="1485900" y="1811195"/>
            <a:ext cx="1952625" cy="424525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EB1A4-67E2-4070-B3C3-EF621AAA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738" y="13525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Revealed details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3d12584ac4585"/>
          <a:stretch xmlns:a="http://schemas.openxmlformats.org/drawingml/2006/main"/>
        </p:blipFill>
        <p:spPr>
          <a:xfrm xmlns:a="http://schemas.openxmlformats.org/drawingml/2006/main">
            <a:off x="5114925" y="1811195"/>
            <a:ext cx="1952625" cy="4245259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C7117E-C199-4B9E-8713-89B7F3C1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763" y="13525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GiftCardMall refresh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03e20dda643fd"/>
          <a:stretch xmlns:a="http://schemas.openxmlformats.org/drawingml/2006/main"/>
        </p:blipFill>
        <p:spPr>
          <a:xfrm xmlns:a="http://schemas.openxmlformats.org/drawingml/2006/main">
            <a:off x="8743950" y="1811195"/>
            <a:ext cx="1952625" cy="424525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9069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293BDC-2F94-41A4-B72A-E8C19D55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Settings closes the current-state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99E42-9DC3-469F-B559-5148679B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rPr>
              <a:t>The redesign can change the expression while preserving the functional contract.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86A25E-7EBF-4FF1-8E02-212CDAF6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F5C3F1-5F22-44D0-8F2A-95B27586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66B73"/>
                </a:solidFill>
                <a:latin typeface="Helvetica Neue"/>
                <a:ea typeface="Helvetica Neue"/>
                <a:cs typeface="Helvetica Neue"/>
              </a:rPr>
              <a:t>VAULTCARD · CURRENT UI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A2133A-3013-494C-AF6C-33D4D8C3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03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3275210a542e8"/>
          <a:stretch xmlns:a="http://schemas.openxmlformats.org/drawingml/2006/main"/>
        </p:blipFill>
        <p:spPr>
          <a:xfrm xmlns:a="http://schemas.openxmlformats.org/drawingml/2006/main">
            <a:off x="1102622" y="1600200"/>
            <a:ext cx="2081005" cy="4524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52298-DD31-469A-A41D-F141EFC3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526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Preserve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7940F-3821-4848-89F5-7535A948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314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rPr>
              <a:t>• Local-first trust</a:t>
            </a:r>
          </a:p>
          <a:p xmlns:a="http://schemas.openxmlformats.org/drawingml/2006/main">
            <a:pPr algn="l">
              <a:defRPr sz="1725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rPr>
              <a:t>• Clear add / save / reveal flow</a:t>
            </a:r>
          </a:p>
          <a:p xmlns:a="http://schemas.openxmlformats.org/drawingml/2006/main">
            <a:pPr algn="l">
              <a:defRPr sz="1725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rPr>
              <a:t>• Explicit validation and destructive actions</a:t>
            </a:r>
          </a:p>
          <a:p xmlns:a="http://schemas.openxmlformats.org/drawingml/2006/main">
            <a:pPr algn="l">
              <a:defRPr sz="1725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rPr>
              <a:t>• Complete notification preference 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15D28A-C818-4FC7-B6CE-04056124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8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68CFF"/>
                </a:solidFill>
                <a:latin typeface="Helvetica Neue"/>
                <a:ea typeface="Helvetica Neue"/>
                <a:cs typeface="Helvetica Neue"/>
              </a:rPr>
              <a:t>Reimagine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431603-12B6-4018-9674-AD346DBA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43150"/>
            <a:ext cx="314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rPr>
              <a:t>• Visual identity and emotional tone</a:t>
            </a:r>
          </a:p>
          <a:p xmlns:a="http://schemas.openxmlformats.org/drawingml/2006/main">
            <a:pPr algn="l">
              <a:defRPr sz="1725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rPr>
              <a:t>• Card artwork and information hierarchy</a:t>
            </a:r>
          </a:p>
          <a:p xmlns:a="http://schemas.openxmlformats.org/drawingml/2006/main">
            <a:pPr algn="l">
              <a:defRPr sz="1725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rPr>
              <a:t>• Empty, error, loading, and success states</a:t>
            </a:r>
          </a:p>
          <a:p xmlns:a="http://schemas.openxmlformats.org/drawingml/2006/main">
            <a:pPr algn="l">
              <a:defRPr sz="1725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rPr>
              <a:t>• The transition into third-party content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6D1F7-D4B4-418C-9D02-A46CC23A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67250"/>
            <a:ext cx="689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7DA8D-8B73-4344-8907-584F490F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953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Coverage note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276262-1062-4F10-A9FF-5123094E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314950"/>
            <a:ext cx="6896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6B73"/>
                </a:solidFill>
                <a:latin typeface="Helvetica Neue"/>
                <a:ea typeface="Helvetica Neue"/>
                <a:cs typeface="Helvetica Neue"/>
              </a:rPr>
              <a:t>Startup-failure and physical-device permission alerts are implementation states, not stable product screens, and are not included here.</a:t>
            </a:r>
          </a:p>
        </p:txBody>
      </p:sp>
    </p:spTree>
    <p:extLst>
      <p:ext uri="{BB962C8B-B14F-4D97-AF65-F5344CB8AC3E}">
        <p14:creationId xmlns:p14="http://schemas.microsoft.com/office/powerpoint/2010/main" val="13207328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2026-08-30T23:00:39.0960000Z</dcterms:created>
  <dcterms:modified xsi:type="dcterms:W3CDTF">2026-08-30T23:00:39.0960000Z</dcterms:modified>
</coreProperties>
</file>